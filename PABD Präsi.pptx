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4"/>
  </p:notesMasterIdLst>
  <p:sldIdLst>
    <p:sldId id="256" r:id="rId5"/>
    <p:sldId id="293" r:id="rId6"/>
    <p:sldId id="258" r:id="rId7"/>
    <p:sldId id="261" r:id="rId8"/>
    <p:sldId id="294" r:id="rId9"/>
    <p:sldId id="259" r:id="rId10"/>
    <p:sldId id="291" r:id="rId11"/>
    <p:sldId id="260" r:id="rId12"/>
    <p:sldId id="290" r:id="rId13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5"/>
      <p:bold r:id="rId16"/>
      <p:italic r:id="rId17"/>
      <p:boldItalic r:id="rId18"/>
    </p:embeddedFont>
    <p:embeddedFont>
      <p:font typeface="Fira Sans Extra Condensed SemiBold" panose="020B0604020202020204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FF3C5-8A35-46A2-AAB8-4DBD159CB0BC}" v="3" dt="2022-06-13T16:02:52.989"/>
    <p1510:client id="{A8EBA369-4F2C-4C55-BB50-0E19F47EEDC2}" v="2282" dt="2022-06-13T18:08:26.395"/>
    <p1510:client id="{C66DD381-B95E-4E3C-AF6A-17A99DBB6723}" v="1450" dt="2022-06-13T18:06:46.612"/>
  </p1510:revLst>
</p1510:revInfo>
</file>

<file path=ppt/tableStyles.xml><?xml version="1.0" encoding="utf-8"?>
<a:tblStyleLst xmlns:a="http://schemas.openxmlformats.org/drawingml/2006/main" def="{9F6E72A0-AF8E-4FDE-8F96-3A3F0A1727D3}">
  <a:tblStyle styleId="{9F6E72A0-AF8E-4FDE-8F96-3A3F0A1727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ICONS (PYTHON </a:t>
            </a:r>
            <a:r>
              <a:rPr lang="en-US" err="1"/>
              <a:t>opencv</a:t>
            </a:r>
            <a:r>
              <a:rPr lang="en-US"/>
              <a:t> </a:t>
            </a:r>
            <a:r>
              <a:rPr lang="en-US" err="1"/>
              <a:t>etc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gf0a8395baa_0_1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8" name="Google Shape;2788;gf0a8395baa_0_1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05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ecdd5d7e48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ecdd5d7e48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Vorstellung des Projekts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f0a8395baa_0_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f0a8395baa_0_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/>
              <a:t>Erläuterung der Lösungansätze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ecdd5d7e48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ecdd5d7e48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ecdd5d7e48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ecdd5d7e48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27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cdd5d7e48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cdd5d7e48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ZUKUNFT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f0a8395baa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f0a8395baa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262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72000" y="1176600"/>
            <a:ext cx="3914700" cy="23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72100" y="3484800"/>
            <a:ext cx="39147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Leistung_(Informatik)" TargetMode="External"/><Relationship Id="rId3" Type="http://schemas.openxmlformats.org/officeDocument/2006/relationships/hyperlink" Target="https://de.wikipedia.org/wiki/C_(Programmiersprache)" TargetMode="External"/><Relationship Id="rId7" Type="http://schemas.openxmlformats.org/officeDocument/2006/relationships/hyperlink" Target="https://de.wikipedia.org/wiki/Apache-Lizenz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e.wikipedia.org/wiki/Java_(Programmiersprache)" TargetMode="External"/><Relationship Id="rId11" Type="http://schemas.openxmlformats.org/officeDocument/2006/relationships/image" Target="../media/image15.png"/><Relationship Id="rId5" Type="http://schemas.openxmlformats.org/officeDocument/2006/relationships/hyperlink" Target="https://de.wikipedia.org/wiki/Python_(Programmiersprache)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s://de.wikipedia.org/wiki/C%2B%2B" TargetMode="External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rxiv.org/pdf/1506.02640.pdf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2697939" y="1407905"/>
            <a:ext cx="5936002" cy="11922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dirty="0"/>
              <a:t>Predictive Analysis &amp; Big Data</a:t>
            </a:r>
            <a:br>
              <a:rPr lang="en" sz="3600" dirty="0"/>
            </a:br>
            <a:r>
              <a:rPr lang="en" sz="3600" dirty="0"/>
              <a:t>Car</a:t>
            </a:r>
            <a:r>
              <a:rPr lang="en-DE" sz="3600" dirty="0"/>
              <a:t>d</a:t>
            </a:r>
            <a:r>
              <a:rPr lang="en" sz="3600" dirty="0"/>
              <a:t>etectionML</a:t>
            </a:r>
            <a:endParaRPr lang="en-US" sz="3600"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2259946" y="2600170"/>
            <a:ext cx="3563667" cy="7039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0"/>
            <a:r>
              <a:rPr lang="de-DE"/>
              <a:t>Tobias Madaj</a:t>
            </a:r>
          </a:p>
          <a:p>
            <a:pPr indent="0"/>
            <a:r>
              <a:rPr lang="de-DE"/>
              <a:t>Darwin Hutama Manggala Putra</a:t>
            </a:r>
            <a:endParaRPr lang="en"/>
          </a:p>
          <a:p>
            <a:pPr indent="0"/>
            <a:r>
              <a:rPr lang="de-DE"/>
              <a:t>Rickiel Eric Sympe Nguebong</a:t>
            </a:r>
          </a:p>
          <a:p>
            <a:pPr indent="0"/>
            <a:r>
              <a:rPr lang="de-DE"/>
              <a:t>Al Shah Aziz</a:t>
            </a:r>
            <a:endParaRPr lang="en"/>
          </a:p>
          <a:p>
            <a:pPr marL="0" indent="0"/>
            <a:endParaRPr lang="e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9C0A819-E32E-CB39-71A1-DCF8D456C0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5" t="10022" r="51059" b="17414"/>
          <a:stretch/>
        </p:blipFill>
        <p:spPr bwMode="auto">
          <a:xfrm>
            <a:off x="844105" y="1649169"/>
            <a:ext cx="1684349" cy="178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>
            <a:extLst>
              <a:ext uri="{FF2B5EF4-FFF2-40B4-BE49-F238E27FC236}">
                <a16:creationId xmlns:a16="http://schemas.microsoft.com/office/drawing/2014/main" id="{24D33124-2C8C-21CB-4173-BDBEFFBAB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940" y="3197803"/>
            <a:ext cx="3151535" cy="157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42"/>
          <p:cNvSpPr/>
          <p:nvPr/>
        </p:nvSpPr>
        <p:spPr>
          <a:xfrm>
            <a:off x="494075" y="2444297"/>
            <a:ext cx="1297200" cy="888600"/>
          </a:xfrm>
          <a:prstGeom prst="roundRect">
            <a:avLst>
              <a:gd name="adj" fmla="val 1510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42"/>
          <p:cNvSpPr/>
          <p:nvPr/>
        </p:nvSpPr>
        <p:spPr>
          <a:xfrm>
            <a:off x="1865825" y="2451224"/>
            <a:ext cx="1297200" cy="888600"/>
          </a:xfrm>
          <a:prstGeom prst="roundRect">
            <a:avLst>
              <a:gd name="adj" fmla="val 1510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2792;p42"/>
          <p:cNvSpPr/>
          <p:nvPr/>
        </p:nvSpPr>
        <p:spPr>
          <a:xfrm>
            <a:off x="3237500" y="2451224"/>
            <a:ext cx="1297200" cy="888600"/>
          </a:xfrm>
          <a:prstGeom prst="roundRect">
            <a:avLst>
              <a:gd name="adj" fmla="val 1510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2793;p42"/>
          <p:cNvSpPr/>
          <p:nvPr/>
        </p:nvSpPr>
        <p:spPr>
          <a:xfrm>
            <a:off x="4609175" y="2451224"/>
            <a:ext cx="1297200" cy="888600"/>
          </a:xfrm>
          <a:prstGeom prst="roundRect">
            <a:avLst>
              <a:gd name="adj" fmla="val 1510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2794;p42"/>
          <p:cNvSpPr/>
          <p:nvPr/>
        </p:nvSpPr>
        <p:spPr>
          <a:xfrm>
            <a:off x="5980850" y="2451224"/>
            <a:ext cx="1297200" cy="888600"/>
          </a:xfrm>
          <a:prstGeom prst="roundRect">
            <a:avLst>
              <a:gd name="adj" fmla="val 1510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5" name="Google Shape;2795;p42"/>
          <p:cNvSpPr/>
          <p:nvPr/>
        </p:nvSpPr>
        <p:spPr>
          <a:xfrm>
            <a:off x="7352525" y="2451224"/>
            <a:ext cx="1297200" cy="888600"/>
          </a:xfrm>
          <a:prstGeom prst="roundRect">
            <a:avLst>
              <a:gd name="adj" fmla="val 1510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796" name="Google Shape;2796;p42"/>
          <p:cNvGraphicFramePr/>
          <p:nvPr>
            <p:extLst>
              <p:ext uri="{D42A27DB-BD31-4B8C-83A1-F6EECF244321}">
                <p14:modId xmlns:p14="http://schemas.microsoft.com/office/powerpoint/2010/main" val="663209016"/>
              </p:ext>
            </p:extLst>
          </p:nvPr>
        </p:nvGraphicFramePr>
        <p:xfrm>
          <a:off x="419900" y="1861784"/>
          <a:ext cx="8229600" cy="1419932"/>
        </p:xfrm>
        <a:graphic>
          <a:graphicData uri="http://schemas.openxmlformats.org/drawingml/2006/table">
            <a:tbl>
              <a:tblPr>
                <a:noFill/>
                <a:tableStyleId>{9F6E72A0-AF8E-4FDE-8F96-3A3F0A1727D3}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42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DE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Vorstellung unserer Idee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DE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Umsetzung des Projeks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DE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Vorstellung OpenCV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Vorstellung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des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Yolo</a:t>
                      </a:r>
                      <a:r>
                        <a:rPr lang="en-DE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Algorithmus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Präsentation des Skripts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Fira Sans Extra Condensed"/>
                          <a:sym typeface="Fira Sans Extra Condensed"/>
                        </a:rPr>
                        <a:t>Ein Blick darauf was sein könnte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6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sym typeface="Fira Sans Extra Condensed"/>
                        </a:rPr>
                        <a:t>Unser </a:t>
                      </a:r>
                      <a:r>
                        <a:rPr lang="en-DE" sz="1600" b="1">
                          <a:solidFill>
                            <a:schemeClr val="lt1"/>
                          </a:solidFill>
                          <a:latin typeface="Fira Sans Extra Condensed"/>
                          <a:sym typeface="Fira Sans Extra Condensed"/>
                        </a:rPr>
                        <a:t>Projekt</a:t>
                      </a:r>
                      <a:endParaRPr sz="1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</a:t>
                      </a:r>
                      <a:r>
                        <a:rPr lang="en-DE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msetzung des Projekts</a:t>
                      </a:r>
                      <a:endParaRPr sz="1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DE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</a:t>
                      </a:r>
                      <a:r>
                        <a:rPr lang="de-DE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pen</a:t>
                      </a:r>
                      <a:r>
                        <a:rPr lang="en-DE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CV</a:t>
                      </a:r>
                      <a:endParaRPr sz="1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DE" sz="1600" b="1">
                          <a:solidFill>
                            <a:schemeClr val="bg1"/>
                          </a:solidFill>
                          <a:latin typeface="Fira Sans Extra Condensed" panose="020B0503050000020004" pitchFamily="34" charset="0"/>
                        </a:rPr>
                        <a:t>Object-Detection</a:t>
                      </a:r>
                      <a:endParaRPr lang="en-GB" sz="1600" b="1">
                        <a:solidFill>
                          <a:schemeClr val="bg1"/>
                        </a:solidFill>
                        <a:latin typeface="Fira Sans Extra Condensed" panose="020B0503050000020004" pitchFamily="34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Live Presentation</a:t>
                      </a:r>
                      <a:endParaRPr sz="16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Ausblick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97" name="Google Shape;2797;p42"/>
          <p:cNvSpPr txBox="1">
            <a:spLocks noGrp="1"/>
          </p:cNvSpPr>
          <p:nvPr>
            <p:ph type="title"/>
          </p:nvPr>
        </p:nvSpPr>
        <p:spPr>
          <a:xfrm>
            <a:off x="683186" y="694203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Inhaltsverzeichnis</a:t>
            </a:r>
          </a:p>
        </p:txBody>
      </p:sp>
      <p:sp>
        <p:nvSpPr>
          <p:cNvPr id="2798" name="Google Shape;2798;p42"/>
          <p:cNvSpPr/>
          <p:nvPr/>
        </p:nvSpPr>
        <p:spPr>
          <a:xfrm>
            <a:off x="419900" y="3663597"/>
            <a:ext cx="8404060" cy="785700"/>
          </a:xfrm>
          <a:prstGeom prst="rightArrow">
            <a:avLst>
              <a:gd name="adj1" fmla="val 100000"/>
              <a:gd name="adj2" fmla="val 31248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42"/>
          <p:cNvSpPr/>
          <p:nvPr/>
        </p:nvSpPr>
        <p:spPr>
          <a:xfrm>
            <a:off x="918275" y="3838924"/>
            <a:ext cx="448800" cy="4488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1600"/>
          </a:p>
        </p:txBody>
      </p:sp>
      <p:sp>
        <p:nvSpPr>
          <p:cNvPr id="2801" name="Google Shape;2801;p42"/>
          <p:cNvSpPr/>
          <p:nvPr/>
        </p:nvSpPr>
        <p:spPr>
          <a:xfrm>
            <a:off x="2290025" y="3838924"/>
            <a:ext cx="448800" cy="4488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/>
          </a:p>
        </p:txBody>
      </p:sp>
      <p:sp>
        <p:nvSpPr>
          <p:cNvPr id="2802" name="Google Shape;2802;p42"/>
          <p:cNvSpPr/>
          <p:nvPr/>
        </p:nvSpPr>
        <p:spPr>
          <a:xfrm>
            <a:off x="3661775" y="3838924"/>
            <a:ext cx="448800" cy="4488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/>
          </a:p>
        </p:txBody>
      </p:sp>
      <p:sp>
        <p:nvSpPr>
          <p:cNvPr id="2803" name="Google Shape;2803;p42"/>
          <p:cNvSpPr/>
          <p:nvPr/>
        </p:nvSpPr>
        <p:spPr>
          <a:xfrm>
            <a:off x="5033513" y="3838924"/>
            <a:ext cx="448800" cy="4488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/>
          </a:p>
        </p:txBody>
      </p:sp>
      <p:sp>
        <p:nvSpPr>
          <p:cNvPr id="2804" name="Google Shape;2804;p42"/>
          <p:cNvSpPr/>
          <p:nvPr/>
        </p:nvSpPr>
        <p:spPr>
          <a:xfrm>
            <a:off x="6405263" y="3838924"/>
            <a:ext cx="448800" cy="4488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/>
          </a:p>
        </p:txBody>
      </p:sp>
      <p:sp>
        <p:nvSpPr>
          <p:cNvPr id="2805" name="Google Shape;2805;p42"/>
          <p:cNvSpPr/>
          <p:nvPr/>
        </p:nvSpPr>
        <p:spPr>
          <a:xfrm>
            <a:off x="7777013" y="3838924"/>
            <a:ext cx="448800" cy="4488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/>
          </a:p>
        </p:txBody>
      </p:sp>
      <p:cxnSp>
        <p:nvCxnSpPr>
          <p:cNvPr id="2806" name="Google Shape;2806;p42"/>
          <p:cNvCxnSpPr>
            <a:cxnSpLocks/>
            <a:endCxn id="2800" idx="0"/>
          </p:cNvCxnSpPr>
          <p:nvPr/>
        </p:nvCxnSpPr>
        <p:spPr>
          <a:xfrm>
            <a:off x="1142675" y="3339824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7" name="Google Shape;2807;p42"/>
          <p:cNvCxnSpPr>
            <a:stCxn id="2791" idx="2"/>
            <a:endCxn id="2801" idx="0"/>
          </p:cNvCxnSpPr>
          <p:nvPr/>
        </p:nvCxnSpPr>
        <p:spPr>
          <a:xfrm>
            <a:off x="2514425" y="3339824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8" name="Google Shape;2808;p42"/>
          <p:cNvCxnSpPr>
            <a:stCxn id="2792" idx="2"/>
            <a:endCxn id="2802" idx="0"/>
          </p:cNvCxnSpPr>
          <p:nvPr/>
        </p:nvCxnSpPr>
        <p:spPr>
          <a:xfrm>
            <a:off x="3886100" y="3339824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9" name="Google Shape;2809;p42"/>
          <p:cNvCxnSpPr>
            <a:cxnSpLocks/>
            <a:stCxn id="2793" idx="2"/>
            <a:endCxn id="2803" idx="0"/>
          </p:cNvCxnSpPr>
          <p:nvPr/>
        </p:nvCxnSpPr>
        <p:spPr>
          <a:xfrm>
            <a:off x="5257775" y="3339824"/>
            <a:ext cx="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0" name="Google Shape;2810;p42"/>
          <p:cNvCxnSpPr>
            <a:cxnSpLocks/>
            <a:stCxn id="2794" idx="2"/>
            <a:endCxn id="2804" idx="0"/>
          </p:cNvCxnSpPr>
          <p:nvPr/>
        </p:nvCxnSpPr>
        <p:spPr>
          <a:xfrm>
            <a:off x="6629450" y="3339824"/>
            <a:ext cx="30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1" name="Google Shape;2811;p42"/>
          <p:cNvCxnSpPr>
            <a:cxnSpLocks/>
            <a:stCxn id="2795" idx="2"/>
            <a:endCxn id="2805" idx="0"/>
          </p:cNvCxnSpPr>
          <p:nvPr/>
        </p:nvCxnSpPr>
        <p:spPr>
          <a:xfrm>
            <a:off x="8001125" y="3339824"/>
            <a:ext cx="300" cy="49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58B2C6D6-3D6E-D3AA-D075-C49E9D3B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38" y="912025"/>
            <a:ext cx="364974" cy="36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9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>
            <a:spLocks noGrp="1"/>
          </p:cNvSpPr>
          <p:nvPr>
            <p:ph type="title"/>
          </p:nvPr>
        </p:nvSpPr>
        <p:spPr>
          <a:xfrm>
            <a:off x="556058" y="27063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DE"/>
              <a:t>Unser Projekt</a:t>
            </a:r>
            <a:endParaRPr lang="en-GB"/>
          </a:p>
        </p:txBody>
      </p:sp>
      <p:grpSp>
        <p:nvGrpSpPr>
          <p:cNvPr id="374" name="Google Shape;374;p17"/>
          <p:cNvGrpSpPr/>
          <p:nvPr/>
        </p:nvGrpSpPr>
        <p:grpSpPr>
          <a:xfrm>
            <a:off x="556058" y="2874795"/>
            <a:ext cx="1857322" cy="1585176"/>
            <a:chOff x="457189" y="1200363"/>
            <a:chExt cx="1857322" cy="1585176"/>
          </a:xfrm>
        </p:grpSpPr>
        <p:grpSp>
          <p:nvGrpSpPr>
            <p:cNvPr id="375" name="Google Shape;375;p17"/>
            <p:cNvGrpSpPr/>
            <p:nvPr/>
          </p:nvGrpSpPr>
          <p:grpSpPr>
            <a:xfrm>
              <a:off x="457189" y="1780388"/>
              <a:ext cx="1857322" cy="1005151"/>
              <a:chOff x="457200" y="1239675"/>
              <a:chExt cx="1857322" cy="1005151"/>
            </a:xfrm>
          </p:grpSpPr>
          <p:sp>
            <p:nvSpPr>
              <p:cNvPr id="376" name="Google Shape;376;p17"/>
              <p:cNvSpPr txBox="1"/>
              <p:nvPr/>
            </p:nvSpPr>
            <p:spPr>
              <a:xfrm>
                <a:off x="457222" y="1239675"/>
                <a:ext cx="1857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Video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77" name="Google Shape;377;p17"/>
              <p:cNvSpPr txBox="1"/>
              <p:nvPr/>
            </p:nvSpPr>
            <p:spPr>
              <a:xfrm>
                <a:off x="457200" y="1518526"/>
                <a:ext cx="18573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1200">
                    <a:latin typeface="Roboto"/>
                    <a:ea typeface="Roboto"/>
                    <a:cs typeface="Roboto"/>
                    <a:sym typeface="Roboto"/>
                  </a:rPr>
                  <a:t>aus einem YouTube-Livestream</a:t>
                </a:r>
                <a:r>
                  <a:rPr lang="en-DE" sz="1200">
                    <a:latin typeface="Roboto"/>
                    <a:ea typeface="Roboto"/>
                    <a:cs typeface="Roboto"/>
                    <a:sym typeface="Roboto"/>
                  </a:rPr>
                  <a:t> werden die Daten</a:t>
                </a:r>
                <a:r>
                  <a:rPr lang="en-US" sz="120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-DE" sz="1200">
                    <a:latin typeface="Roboto"/>
                    <a:ea typeface="Roboto"/>
                    <a:cs typeface="Roboto"/>
                    <a:sym typeface="Roboto"/>
                  </a:rPr>
                  <a:t>ausgewählt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78" name="Google Shape;378;p17"/>
            <p:cNvSpPr/>
            <p:nvPr/>
          </p:nvSpPr>
          <p:spPr>
            <a:xfrm>
              <a:off x="1099500" y="1200363"/>
              <a:ext cx="572700" cy="5727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sz="3000">
                <a:solidFill>
                  <a:schemeClr val="lt1"/>
                </a:solidFill>
              </a:endParaRPr>
            </a:p>
          </p:txBody>
        </p:sp>
      </p:grpSp>
      <p:grpSp>
        <p:nvGrpSpPr>
          <p:cNvPr id="379" name="Google Shape;379;p17"/>
          <p:cNvGrpSpPr/>
          <p:nvPr/>
        </p:nvGrpSpPr>
        <p:grpSpPr>
          <a:xfrm>
            <a:off x="4670178" y="1076061"/>
            <a:ext cx="1857322" cy="1577851"/>
            <a:chOff x="457189" y="3162525"/>
            <a:chExt cx="1857322" cy="1577851"/>
          </a:xfrm>
        </p:grpSpPr>
        <p:sp>
          <p:nvSpPr>
            <p:cNvPr id="380" name="Google Shape;380;p17"/>
            <p:cNvSpPr/>
            <p:nvPr/>
          </p:nvSpPr>
          <p:spPr>
            <a:xfrm>
              <a:off x="1099500" y="3162525"/>
              <a:ext cx="572700" cy="5727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sz="3000">
                <a:solidFill>
                  <a:schemeClr val="lt1"/>
                </a:solidFill>
              </a:endParaRPr>
            </a:p>
          </p:txBody>
        </p:sp>
        <p:grpSp>
          <p:nvGrpSpPr>
            <p:cNvPr id="381" name="Google Shape;381;p17"/>
            <p:cNvGrpSpPr/>
            <p:nvPr/>
          </p:nvGrpSpPr>
          <p:grpSpPr>
            <a:xfrm>
              <a:off x="457189" y="3735225"/>
              <a:ext cx="1857322" cy="1005151"/>
              <a:chOff x="457213" y="3125625"/>
              <a:chExt cx="1857322" cy="1005151"/>
            </a:xfrm>
          </p:grpSpPr>
          <p:sp>
            <p:nvSpPr>
              <p:cNvPr id="382" name="Google Shape;382;p17"/>
              <p:cNvSpPr txBox="1"/>
              <p:nvPr/>
            </p:nvSpPr>
            <p:spPr>
              <a:xfrm>
                <a:off x="457234" y="3125625"/>
                <a:ext cx="1857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Export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83" name="Google Shape;383;p17"/>
              <p:cNvSpPr txBox="1"/>
              <p:nvPr/>
            </p:nvSpPr>
            <p:spPr>
              <a:xfrm>
                <a:off x="457213" y="3404476"/>
                <a:ext cx="18573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de-DE" sz="1200">
                    <a:latin typeface="Roboto"/>
                    <a:ea typeface="Roboto"/>
                    <a:cs typeface="Roboto"/>
                    <a:sym typeface="Roboto"/>
                  </a:rPr>
                  <a:t> erhobenen Daten werden in eine Dataframe exportieren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84" name="Google Shape;384;p17"/>
          <p:cNvGrpSpPr/>
          <p:nvPr/>
        </p:nvGrpSpPr>
        <p:grpSpPr>
          <a:xfrm>
            <a:off x="2547008" y="1059202"/>
            <a:ext cx="2123160" cy="1535082"/>
            <a:chOff x="6760005" y="1193050"/>
            <a:chExt cx="2123160" cy="1535082"/>
          </a:xfrm>
        </p:grpSpPr>
        <p:sp>
          <p:nvSpPr>
            <p:cNvPr id="385" name="Google Shape;385;p17"/>
            <p:cNvSpPr/>
            <p:nvPr/>
          </p:nvSpPr>
          <p:spPr>
            <a:xfrm>
              <a:off x="7471788" y="1193050"/>
              <a:ext cx="572700" cy="5727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sz="3000">
                <a:solidFill>
                  <a:schemeClr val="lt1"/>
                </a:solidFill>
              </a:endParaRPr>
            </a:p>
          </p:txBody>
        </p:sp>
        <p:grpSp>
          <p:nvGrpSpPr>
            <p:cNvPr id="386" name="Google Shape;386;p17"/>
            <p:cNvGrpSpPr/>
            <p:nvPr/>
          </p:nvGrpSpPr>
          <p:grpSpPr>
            <a:xfrm>
              <a:off x="6760005" y="1773075"/>
              <a:ext cx="2123160" cy="955057"/>
              <a:chOff x="387728" y="1239675"/>
              <a:chExt cx="2123160" cy="955057"/>
            </a:xfrm>
          </p:grpSpPr>
          <p:sp>
            <p:nvSpPr>
              <p:cNvPr id="387" name="Google Shape;387;p17"/>
              <p:cNvSpPr txBox="1"/>
              <p:nvPr/>
            </p:nvSpPr>
            <p:spPr>
              <a:xfrm>
                <a:off x="457222" y="1239675"/>
                <a:ext cx="1857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Skript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88" name="Google Shape;388;p17"/>
              <p:cNvSpPr txBox="1"/>
              <p:nvPr/>
            </p:nvSpPr>
            <p:spPr>
              <a:xfrm>
                <a:off x="387728" y="1468432"/>
                <a:ext cx="212316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de-DE" sz="1200">
                    <a:latin typeface="Roboto"/>
                    <a:ea typeface="Roboto"/>
                    <a:cs typeface="Roboto"/>
                    <a:sym typeface="Roboto"/>
                  </a:rPr>
                  <a:t>die Anzahl, die Geschwindigkeit und die Farben der </a:t>
                </a:r>
                <a:r>
                  <a:rPr lang="en-DE" sz="1200">
                    <a:latin typeface="Roboto"/>
                    <a:ea typeface="Roboto"/>
                    <a:cs typeface="Roboto"/>
                    <a:sym typeface="Roboto"/>
                  </a:rPr>
                  <a:t>erkennten Objekte werden</a:t>
                </a:r>
                <a:r>
                  <a:rPr lang="de-DE" sz="120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-DE" sz="1200">
                    <a:latin typeface="Roboto"/>
                    <a:ea typeface="Roboto"/>
                    <a:cs typeface="Roboto"/>
                    <a:sym typeface="Roboto"/>
                  </a:rPr>
                  <a:t>registriert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89" name="Google Shape;389;p17"/>
          <p:cNvGrpSpPr/>
          <p:nvPr/>
        </p:nvGrpSpPr>
        <p:grpSpPr>
          <a:xfrm>
            <a:off x="6851701" y="2870610"/>
            <a:ext cx="1857322" cy="1577851"/>
            <a:chOff x="6829477" y="3162525"/>
            <a:chExt cx="1857322" cy="1577851"/>
          </a:xfrm>
        </p:grpSpPr>
        <p:grpSp>
          <p:nvGrpSpPr>
            <p:cNvPr id="390" name="Google Shape;390;p17"/>
            <p:cNvGrpSpPr/>
            <p:nvPr/>
          </p:nvGrpSpPr>
          <p:grpSpPr>
            <a:xfrm>
              <a:off x="6829477" y="3735225"/>
              <a:ext cx="1857322" cy="1005151"/>
              <a:chOff x="457200" y="1239675"/>
              <a:chExt cx="1857322" cy="1005151"/>
            </a:xfrm>
          </p:grpSpPr>
          <p:sp>
            <p:nvSpPr>
              <p:cNvPr id="391" name="Google Shape;391;p17"/>
              <p:cNvSpPr txBox="1"/>
              <p:nvPr/>
            </p:nvSpPr>
            <p:spPr>
              <a:xfrm>
                <a:off x="457222" y="1239675"/>
                <a:ext cx="1857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Analytics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92" name="Google Shape;392;p17"/>
              <p:cNvSpPr txBox="1"/>
              <p:nvPr/>
            </p:nvSpPr>
            <p:spPr>
              <a:xfrm>
                <a:off x="457200" y="1518526"/>
                <a:ext cx="18573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-DE" sz="1200">
                    <a:latin typeface="Roboto"/>
                    <a:ea typeface="Roboto"/>
                    <a:cs typeface="Roboto"/>
                    <a:sym typeface="Roboto"/>
                  </a:rPr>
                  <a:t>Daten für</a:t>
                </a:r>
                <a:r>
                  <a:rPr lang="en-DE" sz="1200">
                    <a:latin typeface="Roboto"/>
                    <a:ea typeface="Roboto"/>
                    <a:cs typeface="Roboto"/>
                    <a:sym typeface="Roboto"/>
                  </a:rPr>
                  <a:t> Visualisierung</a:t>
                </a:r>
                <a:r>
                  <a:rPr lang="de-DE" sz="1200">
                    <a:latin typeface="Roboto"/>
                    <a:ea typeface="Roboto"/>
                    <a:cs typeface="Roboto"/>
                    <a:sym typeface="Roboto"/>
                  </a:rPr>
                  <a:t> usw. verwenden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93" name="Google Shape;393;p17"/>
            <p:cNvSpPr/>
            <p:nvPr/>
          </p:nvSpPr>
          <p:spPr>
            <a:xfrm>
              <a:off x="7471788" y="3162525"/>
              <a:ext cx="572700" cy="5727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sz="3000">
                <a:solidFill>
                  <a:schemeClr val="lt1"/>
                </a:solidFill>
              </a:endParaRPr>
            </a:p>
          </p:txBody>
        </p:sp>
      </p:grpSp>
      <p:cxnSp>
        <p:nvCxnSpPr>
          <p:cNvPr id="453" name="Google Shape;886;p22">
            <a:extLst>
              <a:ext uri="{FF2B5EF4-FFF2-40B4-BE49-F238E27FC236}">
                <a16:creationId xmlns:a16="http://schemas.microsoft.com/office/drawing/2014/main" id="{197FCCE1-A27D-864C-2825-CFE72BCDAEA4}"/>
              </a:ext>
            </a:extLst>
          </p:cNvPr>
          <p:cNvCxnSpPr>
            <a:cxnSpLocks/>
          </p:cNvCxnSpPr>
          <p:nvPr/>
        </p:nvCxnSpPr>
        <p:spPr>
          <a:xfrm flipV="1">
            <a:off x="1484708" y="1341152"/>
            <a:ext cx="1639495" cy="1367412"/>
          </a:xfrm>
          <a:prstGeom prst="bentConnector3">
            <a:avLst>
              <a:gd name="adj1" fmla="val 142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4" name="Google Shape;886;p22">
            <a:extLst>
              <a:ext uri="{FF2B5EF4-FFF2-40B4-BE49-F238E27FC236}">
                <a16:creationId xmlns:a16="http://schemas.microsoft.com/office/drawing/2014/main" id="{426916EE-1A1D-AD41-8AFD-F45B497BE47A}"/>
              </a:ext>
            </a:extLst>
          </p:cNvPr>
          <p:cNvCxnSpPr>
            <a:cxnSpLocks/>
          </p:cNvCxnSpPr>
          <p:nvPr/>
        </p:nvCxnSpPr>
        <p:spPr>
          <a:xfrm>
            <a:off x="6117438" y="1341152"/>
            <a:ext cx="1637500" cy="1367412"/>
          </a:xfrm>
          <a:prstGeom prst="bentConnector3">
            <a:avLst>
              <a:gd name="adj1" fmla="val 99919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14EA5C-4A14-7D67-0579-0B50A987D547}"/>
              </a:ext>
            </a:extLst>
          </p:cNvPr>
          <p:cNvCxnSpPr/>
          <p:nvPr/>
        </p:nvCxnSpPr>
        <p:spPr>
          <a:xfrm>
            <a:off x="4052958" y="1341152"/>
            <a:ext cx="10272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83" name="Picture 2">
            <a:extLst>
              <a:ext uri="{FF2B5EF4-FFF2-40B4-BE49-F238E27FC236}">
                <a16:creationId xmlns:a16="http://schemas.microsoft.com/office/drawing/2014/main" id="{34BC1232-323E-6FD4-3627-5C3DA34E6E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2" t="12226" r="51471" b="17413"/>
          <a:stretch/>
        </p:blipFill>
        <p:spPr bwMode="auto">
          <a:xfrm>
            <a:off x="3258791" y="259868"/>
            <a:ext cx="453372" cy="54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A24A409C-4F9E-C8CB-4A30-F0CA0B5C4A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952" t="15639" r="18827" b="15438"/>
          <a:stretch/>
        </p:blipFill>
        <p:spPr>
          <a:xfrm>
            <a:off x="2892589" y="2870610"/>
            <a:ext cx="3316801" cy="2135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"/>
          <p:cNvSpPr/>
          <p:nvPr/>
        </p:nvSpPr>
        <p:spPr>
          <a:xfrm>
            <a:off x="531211" y="1035855"/>
            <a:ext cx="1297200" cy="729668"/>
          </a:xfrm>
          <a:prstGeom prst="roundRect">
            <a:avLst>
              <a:gd name="adj" fmla="val 3423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1884305" y="1035855"/>
            <a:ext cx="1297200" cy="729668"/>
          </a:xfrm>
          <a:prstGeom prst="roundRect">
            <a:avLst>
              <a:gd name="adj" fmla="val 3423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3255980" y="1035855"/>
            <a:ext cx="1297200" cy="729668"/>
          </a:xfrm>
          <a:prstGeom prst="roundRect">
            <a:avLst>
              <a:gd name="adj" fmla="val 3423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0"/>
          <p:cNvSpPr/>
          <p:nvPr/>
        </p:nvSpPr>
        <p:spPr>
          <a:xfrm>
            <a:off x="4627655" y="1035855"/>
            <a:ext cx="1297200" cy="729668"/>
          </a:xfrm>
          <a:prstGeom prst="roundRect">
            <a:avLst>
              <a:gd name="adj" fmla="val 3423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5999330" y="1035855"/>
            <a:ext cx="1297200" cy="729668"/>
          </a:xfrm>
          <a:prstGeom prst="roundRect">
            <a:avLst>
              <a:gd name="adj" fmla="val 3423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7371005" y="1035855"/>
            <a:ext cx="1297200" cy="729668"/>
          </a:xfrm>
          <a:prstGeom prst="roundRect">
            <a:avLst>
              <a:gd name="adj" fmla="val 34237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517944" y="1890601"/>
            <a:ext cx="1297200" cy="2285358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b="1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ein Live-Stream Straßenverk-ehrsvideo auf YouTube auswählen</a:t>
            </a:r>
            <a:endParaRPr b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1922935" y="1922040"/>
            <a:ext cx="1297200" cy="2285358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Live-Stream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mit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Pafy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erhalten</a:t>
            </a:r>
            <a:endParaRPr b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3276035" y="1898714"/>
            <a:ext cx="2628772" cy="2285358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latin typeface="Roboto" panose="02000000000000000000" pitchFamily="2" charset="0"/>
                <a:ea typeface="Roboto" panose="02000000000000000000" pitchFamily="2" charset="0"/>
              </a:rPr>
              <a:t>Object-tracking 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und </a:t>
            </a:r>
            <a:r>
              <a:rPr lang="en-US" b="1" i="1">
                <a:latin typeface="Roboto" panose="02000000000000000000" pitchFamily="2" charset="0"/>
                <a:ea typeface="Roboto" panose="02000000000000000000" pitchFamily="2" charset="0"/>
              </a:rPr>
              <a:t>object-detection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mit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 OpenCV und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Numpy</a:t>
            </a:r>
            <a:endParaRPr b="1" i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5979282" y="1898714"/>
            <a:ext cx="1297200" cy="2285358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Dataframe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mit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 Pandas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erstellen</a:t>
            </a:r>
            <a:r>
              <a:rPr lang="en-US" b="1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b="1" err="1">
                <a:latin typeface="Roboto" panose="02000000000000000000" pitchFamily="2" charset="0"/>
                <a:ea typeface="Roboto" panose="02000000000000000000" pitchFamily="2" charset="0"/>
              </a:rPr>
              <a:t>oder</a:t>
            </a:r>
            <a:endParaRPr b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7350957" y="1898714"/>
            <a:ext cx="1297200" cy="2285358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DE" b="1">
                <a:latin typeface="Roboto" panose="02000000000000000000" pitchFamily="2" charset="0"/>
                <a:ea typeface="Roboto" panose="02000000000000000000" pitchFamily="2" charset="0"/>
              </a:rPr>
              <a:t>Stream im</a:t>
            </a:r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 Webserver ohne CSS mit Flash zeigen</a:t>
            </a:r>
            <a:r>
              <a:rPr lang="en-DE" b="1">
                <a:latin typeface="Roboto" panose="02000000000000000000" pitchFamily="2" charset="0"/>
                <a:ea typeface="Roboto" panose="02000000000000000000" pitchFamily="2" charset="0"/>
              </a:rPr>
              <a:t> (in</a:t>
            </a:r>
            <a:r>
              <a:rPr lang="en-GB" b="1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DE" b="1">
                <a:latin typeface="Roboto" panose="02000000000000000000" pitchFamily="2" charset="0"/>
                <a:ea typeface="Roboto" panose="02000000000000000000" pitchFamily="2" charset="0"/>
              </a:rPr>
              <a:t>lusive Dataframe)</a:t>
            </a:r>
            <a:endParaRPr b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9" name="Google Shape;599;p20"/>
          <p:cNvSpPr txBox="1"/>
          <p:nvPr/>
        </p:nvSpPr>
        <p:spPr>
          <a:xfrm>
            <a:off x="1941315" y="314706"/>
            <a:ext cx="57564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tx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Umsetzung des Projekts</a:t>
            </a:r>
            <a:endParaRPr lang="en-GB" sz="2800">
              <a:solidFill>
                <a:schemeClr val="tx1"/>
              </a:solidFill>
            </a:endParaRPr>
          </a:p>
        </p:txBody>
      </p:sp>
      <p:sp>
        <p:nvSpPr>
          <p:cNvPr id="78" name="Google Shape;378;p17">
            <a:extLst>
              <a:ext uri="{FF2B5EF4-FFF2-40B4-BE49-F238E27FC236}">
                <a16:creationId xmlns:a16="http://schemas.microsoft.com/office/drawing/2014/main" id="{FF4712CC-1994-FE2B-D584-80D3515341EC}"/>
              </a:ext>
            </a:extLst>
          </p:cNvPr>
          <p:cNvSpPr/>
          <p:nvPr/>
        </p:nvSpPr>
        <p:spPr>
          <a:xfrm>
            <a:off x="970711" y="1958949"/>
            <a:ext cx="343006" cy="343006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9" name="Google Shape;378;p17">
            <a:extLst>
              <a:ext uri="{FF2B5EF4-FFF2-40B4-BE49-F238E27FC236}">
                <a16:creationId xmlns:a16="http://schemas.microsoft.com/office/drawing/2014/main" id="{233F3DEF-E798-FD44-294C-E07240BCEC5F}"/>
              </a:ext>
            </a:extLst>
          </p:cNvPr>
          <p:cNvSpPr/>
          <p:nvPr/>
        </p:nvSpPr>
        <p:spPr>
          <a:xfrm>
            <a:off x="2374086" y="1958949"/>
            <a:ext cx="343006" cy="343006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1">
                <a:solidFill>
                  <a:schemeClr val="lt1"/>
                </a:solidFill>
                <a:latin typeface="Fira Sans Extra Condensed"/>
                <a:sym typeface="Fira Sans Extra Condensed"/>
              </a:rPr>
              <a:t>2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80" name="Google Shape;378;p17">
            <a:extLst>
              <a:ext uri="{FF2B5EF4-FFF2-40B4-BE49-F238E27FC236}">
                <a16:creationId xmlns:a16="http://schemas.microsoft.com/office/drawing/2014/main" id="{8A3CFFD2-ED0F-05E7-8D69-5A6D289B352B}"/>
              </a:ext>
            </a:extLst>
          </p:cNvPr>
          <p:cNvSpPr/>
          <p:nvPr/>
        </p:nvSpPr>
        <p:spPr>
          <a:xfrm>
            <a:off x="4415995" y="1929681"/>
            <a:ext cx="343006" cy="343006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82" name="Google Shape;378;p17">
            <a:extLst>
              <a:ext uri="{FF2B5EF4-FFF2-40B4-BE49-F238E27FC236}">
                <a16:creationId xmlns:a16="http://schemas.microsoft.com/office/drawing/2014/main" id="{96D74C2B-50B0-5209-509C-E4262172DB3B}"/>
              </a:ext>
            </a:extLst>
          </p:cNvPr>
          <p:cNvSpPr/>
          <p:nvPr/>
        </p:nvSpPr>
        <p:spPr>
          <a:xfrm>
            <a:off x="6456379" y="1950239"/>
            <a:ext cx="343006" cy="343006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83" name="Google Shape;378;p17">
            <a:extLst>
              <a:ext uri="{FF2B5EF4-FFF2-40B4-BE49-F238E27FC236}">
                <a16:creationId xmlns:a16="http://schemas.microsoft.com/office/drawing/2014/main" id="{C6D2AAFD-EC7B-FC6F-E5C0-57D6001DBF7E}"/>
              </a:ext>
            </a:extLst>
          </p:cNvPr>
          <p:cNvSpPr/>
          <p:nvPr/>
        </p:nvSpPr>
        <p:spPr>
          <a:xfrm>
            <a:off x="7834617" y="1955434"/>
            <a:ext cx="343006" cy="343006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34030E-4D1C-AA4C-6418-29EE84363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32" y="1147590"/>
            <a:ext cx="677444" cy="46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Arrow: Curved Up 96">
            <a:extLst>
              <a:ext uri="{FF2B5EF4-FFF2-40B4-BE49-F238E27FC236}">
                <a16:creationId xmlns:a16="http://schemas.microsoft.com/office/drawing/2014/main" id="{625B0349-7042-D99D-67F2-50F6457ADF62}"/>
              </a:ext>
            </a:extLst>
          </p:cNvPr>
          <p:cNvSpPr/>
          <p:nvPr/>
        </p:nvSpPr>
        <p:spPr>
          <a:xfrm>
            <a:off x="5334091" y="4331970"/>
            <a:ext cx="2587582" cy="348600"/>
          </a:xfrm>
          <a:prstGeom prst="curvedUpArrow">
            <a:avLst>
              <a:gd name="adj1" fmla="val 11061"/>
              <a:gd name="adj2" fmla="val 69083"/>
              <a:gd name="adj3" fmla="val 2736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Arrow: Curved Up 98">
            <a:extLst>
              <a:ext uri="{FF2B5EF4-FFF2-40B4-BE49-F238E27FC236}">
                <a16:creationId xmlns:a16="http://schemas.microsoft.com/office/drawing/2014/main" id="{EA0628FE-D38B-BAB0-C78E-35F38BF0D51B}"/>
              </a:ext>
            </a:extLst>
          </p:cNvPr>
          <p:cNvSpPr/>
          <p:nvPr/>
        </p:nvSpPr>
        <p:spPr>
          <a:xfrm>
            <a:off x="2717092" y="4331970"/>
            <a:ext cx="2400776" cy="348600"/>
          </a:xfrm>
          <a:prstGeom prst="curvedUpArrow">
            <a:avLst>
              <a:gd name="adj1" fmla="val 25112"/>
              <a:gd name="adj2" fmla="val 69948"/>
              <a:gd name="adj3" fmla="val 2934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Arrow: Curved Up 101">
            <a:extLst>
              <a:ext uri="{FF2B5EF4-FFF2-40B4-BE49-F238E27FC236}">
                <a16:creationId xmlns:a16="http://schemas.microsoft.com/office/drawing/2014/main" id="{8C7F24E7-CB2F-757E-C860-B24DD93701C2}"/>
              </a:ext>
            </a:extLst>
          </p:cNvPr>
          <p:cNvSpPr/>
          <p:nvPr/>
        </p:nvSpPr>
        <p:spPr>
          <a:xfrm>
            <a:off x="1195985" y="4336043"/>
            <a:ext cx="1137941" cy="318451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8" name="Picture 4" descr="Installing OpenCV 3 With Python On Mac OS X – Perpetual Enigma">
            <a:extLst>
              <a:ext uri="{FF2B5EF4-FFF2-40B4-BE49-F238E27FC236}">
                <a16:creationId xmlns:a16="http://schemas.microsoft.com/office/drawing/2014/main" id="{2E959AD4-038D-1552-44A6-67510F5437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438" y1="12321" x2="49438" y2="12321"/>
                        <a14:foregroundMark x1="55618" y1="35244" x2="55618" y2="35244"/>
                        <a14:foregroundMark x1="45225" y1="19771" x2="45225" y2="19771"/>
                        <a14:foregroundMark x1="45225" y1="19484" x2="45225" y2="19484"/>
                        <a14:foregroundMark x1="30618" y1="34384" x2="30618" y2="34384"/>
                        <a14:foregroundMark x1="38202" y1="35244" x2="38202" y2="35244"/>
                        <a14:foregroundMark x1="38202" y1="35244" x2="38202" y2="35244"/>
                        <a14:foregroundMark x1="38483" y1="35244" x2="38483" y2="35244"/>
                        <a14:foregroundMark x1="39888" y1="51003" x2="39888" y2="51003"/>
                        <a14:foregroundMark x1="42416" y1="51289" x2="42416" y2="51289"/>
                        <a14:foregroundMark x1="47753" y1="51289" x2="47753" y2="51289"/>
                        <a14:foregroundMark x1="53652" y1="51003" x2="53652" y2="51003"/>
                        <a14:foregroundMark x1="59270" y1="49570" x2="59270" y2="49570"/>
                        <a14:foregroundMark x1="66011" y1="48424" x2="66011" y2="48424"/>
                        <a14:foregroundMark x1="24719" y1="76504" x2="24719" y2="76504"/>
                        <a14:foregroundMark x1="27247" y1="74785" x2="27247" y2="74785"/>
                        <a14:foregroundMark x1="27247" y1="74499" x2="27247" y2="74499"/>
                        <a14:foregroundMark x1="27247" y1="74499" x2="27247" y2="74499"/>
                        <a14:foregroundMark x1="27247" y1="74785" x2="27247" y2="74785"/>
                        <a14:foregroundMark x1="26404" y1="75645" x2="26404" y2="75645"/>
                        <a14:foregroundMark x1="26404" y1="75645" x2="26404" y2="75645"/>
                        <a14:foregroundMark x1="38483" y1="81948" x2="38483" y2="81948"/>
                        <a14:foregroundMark x1="46910" y1="81662" x2="46910" y2="81662"/>
                        <a14:foregroundMark x1="56180" y1="79083" x2="56180" y2="79083"/>
                        <a14:foregroundMark x1="60674" y1="76791" x2="60674" y2="76791"/>
                        <a14:foregroundMark x1="69101" y1="77077" x2="69101" y2="77077"/>
                        <a14:foregroundMark x1="76966" y1="78223" x2="76966" y2="78223"/>
                        <a14:foregroundMark x1="69663" y1="32092" x2="69663" y2="32092"/>
                        <a14:foregroundMark x1="69663" y1="32092" x2="69663" y2="32092"/>
                        <a14:foregroundMark x1="69382" y1="32378" x2="69382" y2="32378"/>
                        <a14:foregroundMark x1="57584" y1="17479" x2="57584" y2="17479"/>
                        <a14:foregroundMark x1="57584" y1="17479" x2="57584" y2="17479"/>
                        <a14:foregroundMark x1="57584" y1="17479" x2="57584" y2="17479"/>
                        <a14:foregroundMark x1="57584" y1="17479" x2="57584" y2="17479"/>
                        <a14:foregroundMark x1="59831" y1="18338" x2="59831" y2="18338"/>
                        <a14:foregroundMark x1="58427" y1="19771" x2="58427" y2="19771"/>
                        <a14:foregroundMark x1="57865" y1="22350" x2="57865" y2="22350"/>
                        <a14:foregroundMark x1="57865" y1="22636" x2="57865" y2="22636"/>
                        <a14:foregroundMark x1="58708" y1="17479" x2="58708" y2="17479"/>
                        <a14:foregroundMark x1="58427" y1="16619" x2="55056" y2="14040"/>
                        <a14:foregroundMark x1="56180" y1="13181" x2="56180" y2="13181"/>
                        <a14:foregroundMark x1="58427" y1="36676" x2="58427" y2="36676"/>
                        <a14:foregroundMark x1="58427" y1="36676" x2="58427" y2="36676"/>
                        <a14:foregroundMark x1="57022" y1="38109" x2="57022" y2="38109"/>
                        <a14:foregroundMark x1="57022" y1="38395" x2="57022" y2="38395"/>
                        <a14:backgroundMark x1="30899" y1="34670" x2="30899" y2="34670"/>
                        <a14:backgroundMark x1="30056" y1="34384" x2="30056" y2="34384"/>
                        <a14:backgroundMark x1="30618" y1="34097" x2="30618" y2="34097"/>
                        <a14:backgroundMark x1="30337" y1="34384" x2="30337" y2="34384"/>
                        <a14:backgroundMark x1="30337" y1="34670" x2="30337" y2="34670"/>
                        <a14:backgroundMark x1="44382" y1="52436" x2="44382" y2="52436"/>
                        <a14:backgroundMark x1="49719" y1="51003" x2="49719" y2="51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232" r="21985" b="36162"/>
          <a:stretch/>
        </p:blipFill>
        <p:spPr bwMode="auto">
          <a:xfrm>
            <a:off x="3672439" y="1015460"/>
            <a:ext cx="533801" cy="729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ndas - Python Data Analysis Library">
            <a:extLst>
              <a:ext uri="{FF2B5EF4-FFF2-40B4-BE49-F238E27FC236}">
                <a16:creationId xmlns:a16="http://schemas.microsoft.com/office/drawing/2014/main" id="{84A82506-4B62-085A-E5B8-AB0E4DFB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824" y1="33862" x2="40824" y2="33862"/>
                        <a14:foregroundMark x1="47191" y1="38624" x2="47191" y2="38624"/>
                        <a14:foregroundMark x1="47191" y1="14286" x2="47191" y2="14286"/>
                        <a14:foregroundMark x1="53184" y1="26984" x2="53184" y2="26984"/>
                        <a14:foregroundMark x1="52434" y1="38095" x2="52434" y2="38095"/>
                        <a14:foregroundMark x1="53184" y1="47090" x2="53184" y2="47090"/>
                        <a14:foregroundMark x1="59551" y1="33333" x2="59551" y2="33333"/>
                        <a14:foregroundMark x1="53184" y1="37037" x2="53184" y2="37037"/>
                        <a14:foregroundMark x1="53184" y1="36508" x2="53184" y2="36508"/>
                        <a14:foregroundMark x1="53184" y1="36508" x2="53184" y2="36508"/>
                        <a14:foregroundMark x1="53184" y1="36508" x2="53184" y2="36508"/>
                        <a14:foregroundMark x1="53184" y1="36508" x2="53184" y2="36508"/>
                        <a14:foregroundMark x1="53184" y1="36508" x2="53184" y2="36508"/>
                        <a14:foregroundMark x1="53184" y1="36508" x2="53184" y2="36508"/>
                        <a14:foregroundMark x1="53184" y1="36508" x2="53184" y2="36508"/>
                        <a14:foregroundMark x1="53184" y1="48148" x2="53184" y2="48148"/>
                        <a14:foregroundMark x1="55805" y1="35979" x2="55805" y2="35979"/>
                        <a14:foregroundMark x1="53933" y1="35979" x2="53933" y2="35979"/>
                        <a14:foregroundMark x1="53933" y1="35979" x2="53933" y2="35979"/>
                        <a14:foregroundMark x1="53933" y1="35979" x2="53933" y2="35979"/>
                        <a14:foregroundMark x1="53184" y1="37037" x2="53184" y2="37037"/>
                        <a14:foregroundMark x1="53184" y1="37037" x2="53184" y2="37037"/>
                        <a14:foregroundMark x1="53184" y1="37037" x2="53184" y2="37037"/>
                        <a14:foregroundMark x1="55431" y1="38095" x2="55431" y2="38095"/>
                        <a14:foregroundMark x1="57678" y1="34921" x2="57678" y2="34921"/>
                        <a14:foregroundMark x1="57678" y1="34921" x2="57678" y2="34921"/>
                        <a14:foregroundMark x1="57678" y1="34921" x2="57678" y2="34921"/>
                        <a14:foregroundMark x1="52809" y1="35979" x2="52809" y2="35979"/>
                        <a14:foregroundMark x1="52809" y1="35979" x2="52809" y2="35979"/>
                        <a14:foregroundMark x1="52809" y1="35979" x2="52809" y2="35979"/>
                        <a14:foregroundMark x1="52809" y1="35979" x2="52809" y2="35979"/>
                        <a14:foregroundMark x1="52809" y1="35979" x2="52809" y2="35979"/>
                        <a14:foregroundMark x1="10861" y1="75132" x2="10861" y2="75132"/>
                        <a14:foregroundMark x1="24719" y1="75132" x2="24719" y2="75132"/>
                        <a14:foregroundMark x1="40075" y1="73545" x2="40075" y2="73545"/>
                        <a14:foregroundMark x1="67790" y1="73545" x2="67790" y2="73545"/>
                        <a14:foregroundMark x1="83895" y1="74074" x2="83895" y2="74074"/>
                        <a14:backgroundMark x1="55805" y1="35979" x2="55805" y2="35979"/>
                        <a14:backgroundMark x1="55805" y1="37566" x2="55805" y2="37566"/>
                        <a14:backgroundMark x1="55805" y1="37566" x2="55805" y2="37566"/>
                        <a14:backgroundMark x1="55805" y1="37566" x2="55805" y2="37566"/>
                        <a14:backgroundMark x1="55431" y1="38624" x2="55431" y2="38624"/>
                        <a14:backgroundMark x1="55431" y1="38624" x2="55431" y2="38624"/>
                        <a14:backgroundMark x1="56554" y1="38624" x2="56554" y2="386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918" y="1027676"/>
            <a:ext cx="1042355" cy="73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w to create NumPy arrays from scratch? | by Tanu N Prabhu | Towards Data  Science">
            <a:extLst>
              <a:ext uri="{FF2B5EF4-FFF2-40B4-BE49-F238E27FC236}">
                <a16:creationId xmlns:a16="http://schemas.microsoft.com/office/drawing/2014/main" id="{E694BAC3-C38F-21D8-4C90-B06453C3C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972" y="1115157"/>
            <a:ext cx="1508768" cy="60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lask (web framework) - Wikipedia">
            <a:extLst>
              <a:ext uri="{FF2B5EF4-FFF2-40B4-BE49-F238E27FC236}">
                <a16:creationId xmlns:a16="http://schemas.microsoft.com/office/drawing/2014/main" id="{9B9FEBA0-D3C4-7B66-8021-13AA2CD79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466" y="1223372"/>
            <a:ext cx="988278" cy="3870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8" name="Picture 14" descr="GitHub - mps-youtube/pafy: Python library to download YouTube content and  retrieve metadata">
            <a:extLst>
              <a:ext uri="{FF2B5EF4-FFF2-40B4-BE49-F238E27FC236}">
                <a16:creationId xmlns:a16="http://schemas.microsoft.com/office/drawing/2014/main" id="{AE2B6B30-8B39-AB67-E632-C880C4D79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48333" y1="29762" x2="48333" y2="29762"/>
                        <a14:foregroundMark x1="69286" y1="66667" x2="69286" y2="6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052" y="965422"/>
            <a:ext cx="779706" cy="77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6E7E71D-7C4C-46DB-4DDB-83DD0C1414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9727" y="322591"/>
            <a:ext cx="326061" cy="34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10606-4B5F-6DA1-AEC6-DC0360CD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261868"/>
            <a:ext cx="8229600" cy="572700"/>
          </a:xfrm>
        </p:spPr>
        <p:txBody>
          <a:bodyPr/>
          <a:lstStyle/>
          <a:p>
            <a:r>
              <a:rPr lang="en-DE"/>
              <a:t>OpenCV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602BF3D-972D-B6A4-876D-C08A6B44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9" y="2152767"/>
            <a:ext cx="1572011" cy="1770887"/>
          </a:xfrm>
          <a:prstGeom prst="rect">
            <a:avLst/>
          </a:prstGeom>
        </p:spPr>
      </p:pic>
      <p:sp>
        <p:nvSpPr>
          <p:cNvPr id="6" name="Google Shape;592;p20">
            <a:extLst>
              <a:ext uri="{FF2B5EF4-FFF2-40B4-BE49-F238E27FC236}">
                <a16:creationId xmlns:a16="http://schemas.microsoft.com/office/drawing/2014/main" id="{930B4836-C034-6711-5E2E-9A077A3CB6C5}"/>
              </a:ext>
            </a:extLst>
          </p:cNvPr>
          <p:cNvSpPr/>
          <p:nvPr/>
        </p:nvSpPr>
        <p:spPr>
          <a:xfrm>
            <a:off x="1129145" y="921970"/>
            <a:ext cx="6927273" cy="832362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DE"/>
              <a:t>Open-Source Industriestandard Bibliothek für Bildbearbeitung und maschinelles Sehen (Computer Vision).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AADDC0A-B675-81D1-FDDB-1EA985244413}"/>
              </a:ext>
            </a:extLst>
          </p:cNvPr>
          <p:cNvSpPr txBox="1"/>
          <p:nvPr/>
        </p:nvSpPr>
        <p:spPr>
          <a:xfrm>
            <a:off x="2049992" y="2071841"/>
            <a:ext cx="5410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</a:t>
            </a:r>
            <a:r>
              <a:rPr lang="en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ür 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Programmiersprachen </a:t>
            </a:r>
            <a:r>
              <a:rPr lang="de-DE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C (Programmiersprache)"/>
              </a:rPr>
              <a:t>C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de-DE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C++"/>
              </a:rPr>
              <a:t>C++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de-DE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5" tooltip="Python (Programmiersprache)"/>
              </a:rPr>
              <a:t>Python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und </a:t>
            </a:r>
            <a:r>
              <a:rPr lang="de-DE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6" tooltip="Java (Programmiersprache)"/>
              </a:rPr>
              <a:t>Java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geschrieben und steht als freie Software unter den Bedingungen der </a:t>
            </a:r>
            <a:r>
              <a:rPr lang="de-DE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7" tooltip="Apache-Lizenz"/>
              </a:rPr>
              <a:t>Apache 2 License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DE">
                <a:solidFill>
                  <a:srgbClr val="202122"/>
                </a:solidFill>
                <a:latin typeface="Arial" panose="020B0604020202020204" pitchFamily="34" charset="0"/>
              </a:rPr>
              <a:t> (OpenCV selbst ist in C++ geschrieben)</a:t>
            </a:r>
          </a:p>
          <a:p>
            <a:pPr algn="l"/>
            <a:endParaRPr lang="en-DE" b="0" i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Die Stärke von OpenCV liegt in ihrer </a:t>
            </a:r>
            <a:r>
              <a:rPr lang="de-DE" b="0" i="0" u="none" strike="noStrike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 tooltip="Leistung (Informatik)"/>
              </a:rPr>
              <a:t>Geschwindigkeit</a:t>
            </a:r>
            <a:r>
              <a:rPr lang="de-DE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und in der großen Menge der Algorithmen aus neuesten Forschungsergebnissen.</a:t>
            </a:r>
          </a:p>
          <a:p>
            <a:endParaRPr lang="en-DE"/>
          </a:p>
          <a:p>
            <a:r>
              <a:rPr lang="en-DE"/>
              <a:t>Ist auch für machine Learning ausgelegt (Deeplearning) </a:t>
            </a:r>
            <a:br>
              <a:rPr lang="de-DE"/>
            </a:br>
            <a:endParaRPr lang="en-DE"/>
          </a:p>
        </p:txBody>
      </p:sp>
      <p:pic>
        <p:nvPicPr>
          <p:cNvPr id="11" name="Grafik 10" descr="Ein Bild, das Text, Hund, Katze, legend enthält.&#10;&#10;Automatisch generierte Beschreibung">
            <a:extLst>
              <a:ext uri="{FF2B5EF4-FFF2-40B4-BE49-F238E27FC236}">
                <a16:creationId xmlns:a16="http://schemas.microsoft.com/office/drawing/2014/main" id="{E739E586-BA25-3137-AA8A-463E60E269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3210" y="3627716"/>
            <a:ext cx="2044371" cy="118762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872BAB3-9EED-2161-F1B4-5705AAD67A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1630" y="374226"/>
            <a:ext cx="375372" cy="34798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890F3C0-F8F6-6612-76E5-9C49A6A282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5122" y="2152767"/>
            <a:ext cx="1042459" cy="104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"/>
          <p:cNvSpPr txBox="1">
            <a:spLocks noGrp="1"/>
          </p:cNvSpPr>
          <p:nvPr>
            <p:ph type="title"/>
          </p:nvPr>
        </p:nvSpPr>
        <p:spPr>
          <a:xfrm>
            <a:off x="214825" y="600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442" name="Google Shape;442;p18"/>
          <p:cNvSpPr/>
          <p:nvPr/>
        </p:nvSpPr>
        <p:spPr>
          <a:xfrm>
            <a:off x="2053288" y="2821450"/>
            <a:ext cx="415200" cy="415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3718463" y="3279686"/>
            <a:ext cx="415200" cy="415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5308250" y="2740213"/>
            <a:ext cx="415200" cy="415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403;p18">
            <a:extLst>
              <a:ext uri="{FF2B5EF4-FFF2-40B4-BE49-F238E27FC236}">
                <a16:creationId xmlns:a16="http://schemas.microsoft.com/office/drawing/2014/main" id="{6BBC41D7-F6C4-2F48-8BCA-093A89C71B61}"/>
              </a:ext>
            </a:extLst>
          </p:cNvPr>
          <p:cNvSpPr txBox="1">
            <a:spLocks/>
          </p:cNvSpPr>
          <p:nvPr/>
        </p:nvSpPr>
        <p:spPr>
          <a:xfrm>
            <a:off x="3371858" y="225847"/>
            <a:ext cx="24591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DE"/>
              <a:t>   Object-Detection</a:t>
            </a:r>
            <a:endParaRPr lang="en-US"/>
          </a:p>
          <a:p>
            <a:pPr algn="l"/>
            <a:endParaRPr lang="en-US"/>
          </a:p>
          <a:p>
            <a:endParaRPr lang="en"/>
          </a:p>
        </p:txBody>
      </p:sp>
      <p:sp>
        <p:nvSpPr>
          <p:cNvPr id="60" name="Google Shape;592;p20">
            <a:extLst>
              <a:ext uri="{FF2B5EF4-FFF2-40B4-BE49-F238E27FC236}">
                <a16:creationId xmlns:a16="http://schemas.microsoft.com/office/drawing/2014/main" id="{4C79F1D1-7826-3290-3D01-323BB1E904E8}"/>
              </a:ext>
            </a:extLst>
          </p:cNvPr>
          <p:cNvSpPr/>
          <p:nvPr/>
        </p:nvSpPr>
        <p:spPr>
          <a:xfrm>
            <a:off x="1036320" y="915303"/>
            <a:ext cx="7269480" cy="832362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DE"/>
              <a:t>De-facto Standard Algorithmus für Objekterkennung in Echtzeit im Internet</a:t>
            </a:r>
            <a:r>
              <a:rPr lang="en-GB"/>
              <a:t>F</a:t>
            </a:r>
            <a:r>
              <a:rPr lang="en-DE"/>
              <a:t>unktioniert mittels Deeplearning und Neuronalen Netzen.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15D41C-91FD-A55C-375E-2E8AA8335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84" y="2051700"/>
            <a:ext cx="2259285" cy="119977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9DB9110-F6D3-1ED3-05B1-C9C84CDF0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090" y="3434081"/>
            <a:ext cx="4457970" cy="156377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452AA66-93D5-40EB-EBC8-DDF53A5DD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22" y="3421281"/>
            <a:ext cx="2713636" cy="1722218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11493CAA-8F7D-9AC5-E847-6ECFA03431DF}"/>
              </a:ext>
            </a:extLst>
          </p:cNvPr>
          <p:cNvSpPr txBox="1"/>
          <p:nvPr/>
        </p:nvSpPr>
        <p:spPr>
          <a:xfrm>
            <a:off x="2701450" y="1959088"/>
            <a:ext cx="58899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b="1"/>
              <a:t>YOLO</a:t>
            </a:r>
            <a:r>
              <a:rPr lang="en-DE" sz="1200"/>
              <a:t> steht für “</a:t>
            </a:r>
            <a:r>
              <a:rPr lang="en-DE" sz="1200" b="1"/>
              <a:t>You only look once</a:t>
            </a:r>
            <a:r>
              <a:rPr lang="en-DE" sz="1200"/>
              <a:t>”</a:t>
            </a:r>
          </a:p>
          <a:p>
            <a:r>
              <a:rPr lang="en-DE" sz="1200"/>
              <a:t>Funktioniert mittels neuronalen Netzen (Deeplearning)</a:t>
            </a:r>
          </a:p>
          <a:p>
            <a:r>
              <a:rPr lang="en-GB" sz="1200"/>
              <a:t>I</a:t>
            </a:r>
            <a:r>
              <a:rPr lang="en-DE" sz="1200"/>
              <a:t>st sehr flexibel, schnell aber nichr ganz genau wie andere vergleichbare Algorithmen </a:t>
            </a:r>
          </a:p>
          <a:p>
            <a:r>
              <a:rPr kumimoji="0" lang="de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Der YOLO-Algorithmus funktioniert, indem er das Bild in </a:t>
            </a:r>
            <a:r>
              <a:rPr kumimoji="0" lang="de-DE" altLang="en-DE" sz="120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Gitter</a:t>
            </a:r>
            <a:r>
              <a:rPr kumimoji="0" lang="de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teilt. </a:t>
            </a:r>
            <a:r>
              <a:rPr kumimoji="0" lang="de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Jedes dieser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kumimoji="0" lang="de-DE" altLang="en-DE" sz="120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Gitter</a:t>
            </a:r>
            <a:r>
              <a:rPr kumimoji="0" lang="de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 ist für die </a:t>
            </a:r>
            <a:r>
              <a:rPr kumimoji="0" lang="de-DE" altLang="en-DE" sz="1200" b="1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Erkennung und Lokalisierung </a:t>
            </a:r>
            <a:r>
              <a:rPr kumimoji="0" lang="de-DE" altLang="en-DE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+mj-lt"/>
                <a:cs typeface="Arial" panose="020B0604020202020204" pitchFamily="34" charset="0"/>
              </a:rPr>
              <a:t>des darin enthaltenen Objekts verantwortlich.</a:t>
            </a:r>
            <a:r>
              <a:rPr lang="en-DE" altLang="en-DE" sz="1200">
                <a:solidFill>
                  <a:srgbClr val="202124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DE" altLang="en-DE" sz="900">
                <a:solidFill>
                  <a:srgbClr val="202124"/>
                </a:solidFill>
                <a:latin typeface="Arial (Überschriften)"/>
                <a:cs typeface="Arial" panose="020B0604020202020204" pitchFamily="34" charset="0"/>
              </a:rPr>
              <a:t>(für mehr Infos siehe </a:t>
            </a:r>
            <a:r>
              <a:rPr lang="en-GB" sz="900">
                <a:solidFill>
                  <a:schemeClr val="tx1"/>
                </a:solidFill>
                <a:latin typeface="Arial (Überschriften)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"https://arxiv.org/pdf/1506.02640.pdf"</a:t>
            </a:r>
            <a:r>
              <a:rPr lang="en-DE" sz="900">
                <a:solidFill>
                  <a:schemeClr val="tx1"/>
                </a:solidFill>
                <a:latin typeface="Arial (Überschriften)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338102F-3B01-1796-E44F-91388F66C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2784" y="272491"/>
            <a:ext cx="458147" cy="4581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"/>
          <p:cNvSpPr txBox="1">
            <a:spLocks noGrp="1"/>
          </p:cNvSpPr>
          <p:nvPr>
            <p:ph type="title"/>
          </p:nvPr>
        </p:nvSpPr>
        <p:spPr>
          <a:xfrm>
            <a:off x="212746" y="75922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442" name="Google Shape;442;p18"/>
          <p:cNvSpPr/>
          <p:nvPr/>
        </p:nvSpPr>
        <p:spPr>
          <a:xfrm>
            <a:off x="2053288" y="2821450"/>
            <a:ext cx="415200" cy="415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3680363" y="3250688"/>
            <a:ext cx="415200" cy="415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5308250" y="2740213"/>
            <a:ext cx="415200" cy="415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403;p18">
            <a:extLst>
              <a:ext uri="{FF2B5EF4-FFF2-40B4-BE49-F238E27FC236}">
                <a16:creationId xmlns:a16="http://schemas.microsoft.com/office/drawing/2014/main" id="{6BBC41D7-F6C4-2F48-8BCA-093A89C71B61}"/>
              </a:ext>
            </a:extLst>
          </p:cNvPr>
          <p:cNvSpPr txBox="1">
            <a:spLocks/>
          </p:cNvSpPr>
          <p:nvPr/>
        </p:nvSpPr>
        <p:spPr>
          <a:xfrm>
            <a:off x="3042009" y="2211129"/>
            <a:ext cx="24591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b="0"/>
              <a:t>SCREENSHOT HERE</a:t>
            </a:r>
          </a:p>
          <a:p>
            <a:pPr algn="l"/>
            <a:endParaRPr lang="en-US"/>
          </a:p>
          <a:p>
            <a:endParaRPr lang="en"/>
          </a:p>
        </p:txBody>
      </p:sp>
      <p:sp>
        <p:nvSpPr>
          <p:cNvPr id="57" name="Google Shape;403;p18">
            <a:extLst>
              <a:ext uri="{FF2B5EF4-FFF2-40B4-BE49-F238E27FC236}">
                <a16:creationId xmlns:a16="http://schemas.microsoft.com/office/drawing/2014/main" id="{195AD3D8-8055-A0FE-D50B-FCE213321223}"/>
              </a:ext>
            </a:extLst>
          </p:cNvPr>
          <p:cNvSpPr txBox="1">
            <a:spLocks/>
          </p:cNvSpPr>
          <p:nvPr/>
        </p:nvSpPr>
        <p:spPr>
          <a:xfrm>
            <a:off x="2791342" y="348485"/>
            <a:ext cx="401435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/>
              <a:t>Live</a:t>
            </a:r>
            <a:r>
              <a:rPr lang="en-DE" sz="2800"/>
              <a:t>-</a:t>
            </a:r>
            <a:r>
              <a:rPr lang="en-US" sz="2800"/>
              <a:t>Presentation</a:t>
            </a:r>
            <a:endParaRPr lang="en-DE" sz="2800"/>
          </a:p>
          <a:p>
            <a:endParaRPr lang="en-US" sz="2800"/>
          </a:p>
          <a:p>
            <a:pPr algn="l"/>
            <a:endParaRPr lang="en-US"/>
          </a:p>
          <a:p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7B18E-F7BF-7DD2-D939-6C6CC00BC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302" y="1018104"/>
            <a:ext cx="6541395" cy="367953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90811AC-B9FA-A85F-8B74-E8F41146D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009" y="441771"/>
            <a:ext cx="434687" cy="40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5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"/>
          <p:cNvSpPr txBox="1">
            <a:spLocks noGrp="1"/>
          </p:cNvSpPr>
          <p:nvPr>
            <p:ph type="title"/>
          </p:nvPr>
        </p:nvSpPr>
        <p:spPr>
          <a:xfrm>
            <a:off x="525780" y="19734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Ausblick</a:t>
            </a:r>
          </a:p>
          <a:p>
            <a:br>
              <a:rPr lang="en-US"/>
            </a:br>
            <a:endParaRPr lang="en-US"/>
          </a:p>
        </p:txBody>
      </p:sp>
      <p:pic>
        <p:nvPicPr>
          <p:cNvPr id="3" name="Grafik 2" descr="Ein Bild, das Text, Baum, draußen, Szene enthält.&#10;&#10;Automatisch generierte Beschreibung">
            <a:extLst>
              <a:ext uri="{FF2B5EF4-FFF2-40B4-BE49-F238E27FC236}">
                <a16:creationId xmlns:a16="http://schemas.microsoft.com/office/drawing/2014/main" id="{9E7570C2-E879-DCCE-31CD-25B410858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004" y="2057400"/>
            <a:ext cx="2556125" cy="15794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 descr="Ein Bild, das Text, Auto, Straße, draußen enthält.&#10;&#10;Automatisch generierte Beschreibung">
            <a:extLst>
              <a:ext uri="{FF2B5EF4-FFF2-40B4-BE49-F238E27FC236}">
                <a16:creationId xmlns:a16="http://schemas.microsoft.com/office/drawing/2014/main" id="{9AD3A7E6-4854-CD85-799F-2C5AEDF5F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683" y="1843962"/>
            <a:ext cx="2592444" cy="19655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1" name="Google Shape;592;p20">
            <a:extLst>
              <a:ext uri="{FF2B5EF4-FFF2-40B4-BE49-F238E27FC236}">
                <a16:creationId xmlns:a16="http://schemas.microsoft.com/office/drawing/2014/main" id="{82873557-ED97-2041-9721-F89439EED023}"/>
              </a:ext>
            </a:extLst>
          </p:cNvPr>
          <p:cNvSpPr/>
          <p:nvPr/>
        </p:nvSpPr>
        <p:spPr>
          <a:xfrm>
            <a:off x="696018" y="3938364"/>
            <a:ext cx="2646887" cy="638057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DE" b="1"/>
              <a:t>Path-Tracker für</a:t>
            </a:r>
            <a:r>
              <a:rPr lang="en-US" b="1"/>
              <a:t> </a:t>
            </a:r>
            <a:r>
              <a:rPr lang="en-DE" b="1"/>
              <a:t>bewegende Fahrzeuge</a:t>
            </a:r>
          </a:p>
        </p:txBody>
      </p:sp>
      <p:sp>
        <p:nvSpPr>
          <p:cNvPr id="92" name="Google Shape;592;p20">
            <a:extLst>
              <a:ext uri="{FF2B5EF4-FFF2-40B4-BE49-F238E27FC236}">
                <a16:creationId xmlns:a16="http://schemas.microsoft.com/office/drawing/2014/main" id="{1C8325D2-DE8E-7953-96BB-46BE39B7F2AE}"/>
              </a:ext>
            </a:extLst>
          </p:cNvPr>
          <p:cNvSpPr/>
          <p:nvPr/>
        </p:nvSpPr>
        <p:spPr>
          <a:xfrm>
            <a:off x="3541962" y="3960773"/>
            <a:ext cx="2709232" cy="638057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DE" b="1" err="1"/>
              <a:t>Nummernschilderkennung</a:t>
            </a:r>
            <a:r>
              <a:rPr lang="en-DE" b="1"/>
              <a:t> </a:t>
            </a:r>
            <a:r>
              <a:rPr lang="en-DE" b="1" err="1"/>
              <a:t>oder</a:t>
            </a:r>
            <a:r>
              <a:rPr lang="en-DE" b="1"/>
              <a:t> </a:t>
            </a:r>
            <a:r>
              <a:rPr lang="en-DE" b="1" err="1"/>
              <a:t>Automarken</a:t>
            </a:r>
            <a:r>
              <a:rPr lang="en-DE" b="1"/>
              <a:t> erkennung</a:t>
            </a:r>
            <a:endParaRPr lang="en-US" b="1"/>
          </a:p>
        </p:txBody>
      </p:sp>
      <p:sp>
        <p:nvSpPr>
          <p:cNvPr id="93" name="Google Shape;592;p20">
            <a:extLst>
              <a:ext uri="{FF2B5EF4-FFF2-40B4-BE49-F238E27FC236}">
                <a16:creationId xmlns:a16="http://schemas.microsoft.com/office/drawing/2014/main" id="{965E0E60-70D0-ABC4-73F6-7ED775F3E63E}"/>
              </a:ext>
            </a:extLst>
          </p:cNvPr>
          <p:cNvSpPr/>
          <p:nvPr/>
        </p:nvSpPr>
        <p:spPr>
          <a:xfrm>
            <a:off x="6317004" y="3960773"/>
            <a:ext cx="2709232" cy="638058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DE" b="1"/>
          </a:p>
          <a:p>
            <a:r>
              <a:rPr lang="en-DE" b="1" err="1"/>
              <a:t>Verschienden</a:t>
            </a:r>
            <a:r>
              <a:rPr lang="en-DE" b="1"/>
              <a:t> Farben für </a:t>
            </a:r>
            <a:r>
              <a:rPr lang="en-DE" b="1" err="1"/>
              <a:t>verschiedene</a:t>
            </a:r>
            <a:r>
              <a:rPr lang="en-DE" b="1"/>
              <a:t> Objekte </a:t>
            </a:r>
          </a:p>
          <a:p>
            <a:endParaRPr lang="en-DE" b="1"/>
          </a:p>
        </p:txBody>
      </p:sp>
      <p:sp>
        <p:nvSpPr>
          <p:cNvPr id="94" name="Google Shape;592;p20">
            <a:extLst>
              <a:ext uri="{FF2B5EF4-FFF2-40B4-BE49-F238E27FC236}">
                <a16:creationId xmlns:a16="http://schemas.microsoft.com/office/drawing/2014/main" id="{FC508238-D7F7-9131-4AC9-03EE3812CFC3}"/>
              </a:ext>
            </a:extLst>
          </p:cNvPr>
          <p:cNvSpPr/>
          <p:nvPr/>
        </p:nvSpPr>
        <p:spPr>
          <a:xfrm>
            <a:off x="795828" y="921285"/>
            <a:ext cx="8050299" cy="638057"/>
          </a:xfrm>
          <a:prstGeom prst="roundRect">
            <a:avLst>
              <a:gd name="adj" fmla="val 1510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de-DE" b="1"/>
              <a:t>Blick in die Zukunft - was noch sein könnte - was man weitergehend machen kann - Verbesserungen am eigenen Werk in weitergehender Arbeit</a:t>
            </a:r>
            <a:endParaRPr lang="en-DE" b="1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7046E7A-FAFA-40A7-81F7-B942AF03E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5" y="330207"/>
            <a:ext cx="417151" cy="41715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21D73B1-CACB-977C-406F-6D157ACEE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46" y="2036328"/>
            <a:ext cx="2533830" cy="151354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C6FB7A0-DD11-7081-3AD6-F57B0001D02F}"/>
              </a:ext>
            </a:extLst>
          </p:cNvPr>
          <p:cNvSpPr txBox="1"/>
          <p:nvPr/>
        </p:nvSpPr>
        <p:spPr>
          <a:xfrm>
            <a:off x="3141974" y="4746487"/>
            <a:ext cx="373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U</a:t>
            </a:r>
            <a:r>
              <a:rPr lang="en-DE" b="1"/>
              <a:t>nd noch viel viel mehr Möglichkeiten</a:t>
            </a:r>
            <a:r>
              <a:rPr lang="en-US" b="1"/>
              <a:t>!</a:t>
            </a:r>
            <a:r>
              <a:rPr lang="en-DE" b="1"/>
              <a:t>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26"/>
          <p:cNvSpPr txBox="1">
            <a:spLocks noGrp="1"/>
          </p:cNvSpPr>
          <p:nvPr>
            <p:ph type="title"/>
          </p:nvPr>
        </p:nvSpPr>
        <p:spPr>
          <a:xfrm>
            <a:off x="1040695" y="2129002"/>
            <a:ext cx="2985089" cy="1184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Danke f</a:t>
            </a:r>
            <a:r>
              <a:rPr lang="de-DE" sz="3200"/>
              <a:t>ür Ihre Aufmerksamkeit</a:t>
            </a:r>
            <a:endParaRPr sz="3200"/>
          </a:p>
        </p:txBody>
      </p:sp>
      <p:sp>
        <p:nvSpPr>
          <p:cNvPr id="1551" name="Google Shape;1551;p26"/>
          <p:cNvSpPr/>
          <p:nvPr/>
        </p:nvSpPr>
        <p:spPr>
          <a:xfrm>
            <a:off x="2335087" y="2409095"/>
            <a:ext cx="757213" cy="652168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26"/>
          <p:cNvSpPr/>
          <p:nvPr/>
        </p:nvSpPr>
        <p:spPr>
          <a:xfrm>
            <a:off x="2335088" y="3305975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26"/>
          <p:cNvSpPr/>
          <p:nvPr/>
        </p:nvSpPr>
        <p:spPr>
          <a:xfrm>
            <a:off x="2335088" y="4044375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26"/>
          <p:cNvSpPr/>
          <p:nvPr/>
        </p:nvSpPr>
        <p:spPr>
          <a:xfrm>
            <a:off x="6248913" y="1723563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26"/>
          <p:cNvSpPr/>
          <p:nvPr/>
        </p:nvSpPr>
        <p:spPr>
          <a:xfrm>
            <a:off x="6248913" y="2821250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26"/>
          <p:cNvSpPr/>
          <p:nvPr/>
        </p:nvSpPr>
        <p:spPr>
          <a:xfrm>
            <a:off x="6248913" y="3918925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55E20F-4D67-19A2-C3B3-AE18A5572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6"/>
          <a:stretch/>
        </p:blipFill>
        <p:spPr bwMode="auto">
          <a:xfrm>
            <a:off x="4447192" y="1469544"/>
            <a:ext cx="3603441" cy="259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462314"/>
      </p:ext>
    </p:extLst>
  </p:cSld>
  <p:clrMapOvr>
    <a:masterClrMapping/>
  </p:clrMapOvr>
</p:sld>
</file>

<file path=ppt/theme/theme1.xml><?xml version="1.0" encoding="utf-8"?>
<a:theme xmlns:a="http://schemas.openxmlformats.org/drawingml/2006/main" name="Privacy &amp; Big Data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115F8A"/>
      </a:accent1>
      <a:accent2>
        <a:srgbClr val="01B8AC"/>
      </a:accent2>
      <a:accent3>
        <a:srgbClr val="5CCFEE"/>
      </a:accent3>
      <a:accent4>
        <a:srgbClr val="FDCD51"/>
      </a:accent4>
      <a:accent5>
        <a:srgbClr val="115F8A"/>
      </a:accent5>
      <a:accent6>
        <a:srgbClr val="01B8AC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48884AE0B004DBF9A46D736F5A5C8" ma:contentTypeVersion="6" ma:contentTypeDescription="Create a new document." ma:contentTypeScope="" ma:versionID="2bc6a34d410ebd0c822dcc9255a6dbb2">
  <xsd:schema xmlns:xsd="http://www.w3.org/2001/XMLSchema" xmlns:xs="http://www.w3.org/2001/XMLSchema" xmlns:p="http://schemas.microsoft.com/office/2006/metadata/properties" xmlns:ns2="8852facf-6730-4ffa-aac6-cd28cc30d626" targetNamespace="http://schemas.microsoft.com/office/2006/metadata/properties" ma:root="true" ma:fieldsID="40c9e0ccaa5a545e85b3f21615283d74" ns2:_="">
    <xsd:import namespace="8852facf-6730-4ffa-aac6-cd28cc30d6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2facf-6730-4ffa-aac6-cd28cc30d6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2FEC0C-0092-4DB6-A769-CE1130079D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936856-B507-4E54-89D5-BCCFD044EC0B}">
  <ds:schemaRefs>
    <ds:schemaRef ds:uri="8852facf-6730-4ffa-aac6-cd28cc30d6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E6BFC0-0CFA-439B-8490-D605021BC688}">
  <ds:schemaRefs>
    <ds:schemaRef ds:uri="8852facf-6730-4ffa-aac6-cd28cc30d626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On-screen Show (16:9)</PresentationFormat>
  <Paragraphs>80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Roboto</vt:lpstr>
      <vt:lpstr>Fira Sans Extra Condensed</vt:lpstr>
      <vt:lpstr>Fira Sans Extra Condensed SemiBold</vt:lpstr>
      <vt:lpstr>Arial (Überschriften)</vt:lpstr>
      <vt:lpstr>Privacy &amp; Big Data Infographics by Slidesgo</vt:lpstr>
      <vt:lpstr>Predictive Analysis &amp; Big Data CardetectionML</vt:lpstr>
      <vt:lpstr>Inhaltsverzeichnis</vt:lpstr>
      <vt:lpstr>Unser Projekt</vt:lpstr>
      <vt:lpstr>PowerPoint Presentation</vt:lpstr>
      <vt:lpstr>OpenCV</vt:lpstr>
      <vt:lpstr> </vt:lpstr>
      <vt:lpstr> </vt:lpstr>
      <vt:lpstr>Ausblick  </vt:lpstr>
      <vt:lpstr>Danke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 Big Data Infographics</dc:title>
  <dc:creator>tobim1996</dc:creator>
  <cp:lastModifiedBy>Tobias Madaj</cp:lastModifiedBy>
  <cp:revision>3</cp:revision>
  <dcterms:modified xsi:type="dcterms:W3CDTF">2024-01-22T00:07:05Z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0x010100DBD48884AE0B004DBF9A46D736F5A5C8</vt:lpwstr>
  </property>
</Properties>
</file>